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16" r:id="rId1"/>
  </p:sldMasterIdLst>
  <p:sldIdLst>
    <p:sldId id="256" r:id="rId2"/>
    <p:sldId id="257" r:id="rId3"/>
    <p:sldId id="258" r:id="rId4"/>
    <p:sldId id="269" r:id="rId5"/>
    <p:sldId id="259" r:id="rId6"/>
    <p:sldId id="260" r:id="rId7"/>
    <p:sldId id="261" r:id="rId8"/>
    <p:sldId id="262" r:id="rId9"/>
    <p:sldId id="268" r:id="rId10"/>
    <p:sldId id="263" r:id="rId11"/>
    <p:sldId id="267" r:id="rId12"/>
    <p:sldId id="270" r:id="rId13"/>
    <p:sldId id="264" r:id="rId14"/>
    <p:sldId id="265" r:id="rId15"/>
    <p:sldId id="266"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147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5BCAD085-E8A6-8845-BD4E-CB4CCA059FC4}" type="datetimeFigureOut">
              <a:rPr lang="en-US" smtClean="0"/>
              <a:t>11/9/2025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1FF6DA9-008F-8B48-92A6-B652298478B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5BCAD085-E8A6-8845-BD4E-CB4CCA059FC4}" type="datetimeFigureOut">
              <a:rPr lang="en-US" smtClean="0"/>
              <a:t>11/9/2025</a:t>
            </a:fld>
            <a:endParaRPr lang="en-US"/>
          </a:p>
        </p:txBody>
      </p:sp>
      <p:sp>
        <p:nvSpPr>
          <p:cNvPr id="9" name="Slide Number Placeholder 8"/>
          <p:cNvSpPr>
            <a:spLocks noGrp="1"/>
          </p:cNvSpPr>
          <p:nvPr>
            <p:ph type="sldNum" sz="quarter" idx="15"/>
          </p:nvPr>
        </p:nvSpPr>
        <p:spPr/>
        <p:txBody>
          <a:bodyPr rtlCol="0"/>
          <a:lstStyle/>
          <a:p>
            <a:fld id="{C1FF6DA9-008F-8B48-92A6-B652298478BF}"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1FF6DA9-008F-8B48-92A6-B652298478B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5BCAD085-E8A6-8845-BD4E-CB4CCA059FC4}" type="datetimeFigureOut">
              <a:rPr lang="en-US" smtClean="0"/>
              <a:t>11/9/2025</a:t>
            </a:fld>
            <a:endParaRPr lang="en-US"/>
          </a:p>
        </p:txBody>
      </p:sp>
      <p:sp>
        <p:nvSpPr>
          <p:cNvPr id="7" name="Slide Number Placeholder 6"/>
          <p:cNvSpPr>
            <a:spLocks noGrp="1"/>
          </p:cNvSpPr>
          <p:nvPr>
            <p:ph type="sldNum" sz="quarter" idx="11"/>
          </p:nvPr>
        </p:nvSpPr>
        <p:spPr/>
        <p:txBody>
          <a:bodyPr rtlCol="0"/>
          <a:lstStyle/>
          <a:p>
            <a:fld id="{C1FF6DA9-008F-8B48-92A6-B652298478BF}"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5BCAD085-E8A6-8845-BD4E-CB4CCA059FC4}" type="datetimeFigureOut">
              <a:rPr lang="en-US" smtClean="0"/>
              <a:t>11/9/2025</a:t>
            </a:fld>
            <a:endParaRPr lang="en-US"/>
          </a:p>
        </p:txBody>
      </p:sp>
      <p:sp>
        <p:nvSpPr>
          <p:cNvPr id="22" name="Slide Number Placeholder 21"/>
          <p:cNvSpPr>
            <a:spLocks noGrp="1"/>
          </p:cNvSpPr>
          <p:nvPr>
            <p:ph type="sldNum" sz="quarter" idx="15"/>
          </p:nvPr>
        </p:nvSpPr>
        <p:spPr/>
        <p:txBody>
          <a:bodyPr rtlCol="0"/>
          <a:lstStyle/>
          <a:p>
            <a:fld id="{C1FF6DA9-008F-8B48-92A6-B652298478BF}"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5BCAD085-E8A6-8845-BD4E-CB4CCA059FC4}" type="datetimeFigureOut">
              <a:rPr lang="en-US" smtClean="0"/>
              <a:t>11/9/2025</a:t>
            </a:fld>
            <a:endParaRPr lang="en-US"/>
          </a:p>
        </p:txBody>
      </p:sp>
      <p:sp>
        <p:nvSpPr>
          <p:cNvPr id="18" name="Slide Number Placeholder 17"/>
          <p:cNvSpPr>
            <a:spLocks noGrp="1"/>
          </p:cNvSpPr>
          <p:nvPr>
            <p:ph type="sldNum" sz="quarter" idx="11"/>
          </p:nvPr>
        </p:nvSpPr>
        <p:spPr/>
        <p:txBody>
          <a:bodyPr rtlCol="0"/>
          <a:lstStyle/>
          <a:p>
            <a:fld id="{C1FF6DA9-008F-8B48-92A6-B652298478BF}"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5BCAD085-E8A6-8845-BD4E-CB4CCA059FC4}" type="datetimeFigureOut">
              <a:rPr lang="en-US" smtClean="0"/>
              <a:t>11/9/2025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07502" y="2666698"/>
            <a:ext cx="6400800" cy="1295400"/>
          </a:xfrm>
        </p:spPr>
        <p:txBody>
          <a:bodyPr>
            <a:noAutofit/>
          </a:bodyPr>
          <a:lstStyle/>
          <a:p>
            <a:r>
              <a:rPr sz="3600" dirty="0">
                <a:solidFill>
                  <a:srgbClr val="7030A0"/>
                </a:solidFill>
              </a:rPr>
              <a:t>Emotion Detection Using Machine Learning</a:t>
            </a:r>
          </a:p>
        </p:txBody>
      </p:sp>
      <p:sp>
        <p:nvSpPr>
          <p:cNvPr id="3" name="Subtitle 2"/>
          <p:cNvSpPr>
            <a:spLocks noGrp="1"/>
          </p:cNvSpPr>
          <p:nvPr>
            <p:ph type="subTitle" idx="1"/>
          </p:nvPr>
        </p:nvSpPr>
        <p:spPr>
          <a:xfrm>
            <a:off x="5610224" y="4581525"/>
            <a:ext cx="6500911" cy="1793397"/>
          </a:xfrm>
        </p:spPr>
        <p:txBody>
          <a:bodyPr>
            <a:noAutofit/>
          </a:bodyPr>
          <a:lstStyle/>
          <a:p>
            <a:r>
              <a:rPr dirty="0" smtClean="0">
                <a:solidFill>
                  <a:schemeClr val="tx1"/>
                </a:solidFill>
                <a:latin typeface="Bodoni MT" pitchFamily="18" charset="0"/>
              </a:rPr>
              <a:t>Name</a:t>
            </a:r>
            <a:r>
              <a:rPr lang="en-US" dirty="0" smtClean="0">
                <a:solidFill>
                  <a:schemeClr val="tx1"/>
                </a:solidFill>
                <a:latin typeface="Bodoni MT" pitchFamily="18" charset="0"/>
              </a:rPr>
              <a:t>  :</a:t>
            </a:r>
            <a:r>
              <a:rPr dirty="0" smtClean="0">
                <a:solidFill>
                  <a:schemeClr val="tx1"/>
                </a:solidFill>
                <a:latin typeface="Bodoni MT" pitchFamily="18" charset="0"/>
              </a:rPr>
              <a:t>AISWARYA N</a:t>
            </a:r>
            <a:endParaRPr lang="en-US" dirty="0" smtClean="0">
              <a:solidFill>
                <a:schemeClr val="tx1"/>
              </a:solidFill>
              <a:latin typeface="Bodoni MT" pitchFamily="18" charset="0"/>
            </a:endParaRPr>
          </a:p>
          <a:p>
            <a:r>
              <a:rPr dirty="0" smtClean="0">
                <a:solidFill>
                  <a:schemeClr val="tx1"/>
                </a:solidFill>
                <a:latin typeface="Bodoni MT" pitchFamily="18" charset="0"/>
              </a:rPr>
              <a:t>Register No</a:t>
            </a:r>
            <a:r>
              <a:rPr lang="en-US" dirty="0" smtClean="0">
                <a:solidFill>
                  <a:schemeClr val="tx1"/>
                </a:solidFill>
                <a:latin typeface="Bodoni MT" pitchFamily="18" charset="0"/>
              </a:rPr>
              <a:t>: 127150006         </a:t>
            </a:r>
          </a:p>
          <a:p>
            <a:r>
              <a:rPr dirty="0" smtClean="0">
                <a:solidFill>
                  <a:schemeClr val="tx1"/>
                </a:solidFill>
                <a:latin typeface="Bodoni MT" pitchFamily="18" charset="0"/>
              </a:rPr>
              <a:t>Subject</a:t>
            </a:r>
            <a:r>
              <a:rPr dirty="0">
                <a:solidFill>
                  <a:schemeClr val="tx1"/>
                </a:solidFill>
                <a:latin typeface="Bodoni MT" pitchFamily="18" charset="0"/>
              </a:rPr>
              <a:t>: </a:t>
            </a:r>
            <a:r>
              <a:rPr dirty="0" smtClean="0">
                <a:solidFill>
                  <a:schemeClr val="tx1"/>
                </a:solidFill>
                <a:latin typeface="Bodoni MT" pitchFamily="18" charset="0"/>
              </a:rPr>
              <a:t>Python</a:t>
            </a:r>
            <a:r>
              <a:rPr lang="en-US" dirty="0" smtClean="0">
                <a:solidFill>
                  <a:schemeClr val="tx1"/>
                </a:solidFill>
                <a:latin typeface="Bodoni MT" pitchFamily="18" charset="0"/>
              </a:rPr>
              <a:t> For Data Science</a:t>
            </a:r>
            <a:r>
              <a:rPr dirty="0" smtClean="0">
                <a:solidFill>
                  <a:schemeClr val="tx1"/>
                </a:solidFill>
                <a:latin typeface="Bodoni MT" pitchFamily="18" charset="0"/>
              </a:rPr>
              <a:t> </a:t>
            </a:r>
            <a:endParaRPr lang="en-US" dirty="0" smtClean="0">
              <a:solidFill>
                <a:schemeClr val="tx1"/>
              </a:solidFill>
              <a:latin typeface="Bodoni MT" pitchFamily="18" charset="0"/>
            </a:endParaRPr>
          </a:p>
          <a:p>
            <a:r>
              <a:rPr dirty="0" smtClean="0">
                <a:solidFill>
                  <a:schemeClr val="tx1"/>
                </a:solidFill>
                <a:latin typeface="Bodoni MT" pitchFamily="18" charset="0"/>
              </a:rPr>
              <a:t>Subject Code:</a:t>
            </a:r>
            <a:r>
              <a:rPr lang="en-US" dirty="0" smtClean="0">
                <a:solidFill>
                  <a:schemeClr val="tx1"/>
                </a:solidFill>
                <a:latin typeface="Bodoni MT" pitchFamily="18" charset="0"/>
              </a:rPr>
              <a:t>BIN522</a:t>
            </a:r>
            <a:endParaRPr dirty="0">
              <a:solidFill>
                <a:schemeClr val="tx1"/>
              </a:solidFill>
              <a:latin typeface="Bodoni MT"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22"/>
            <a:ext cx="9144000" cy="2450306"/>
          </a:xfrm>
          <a:prstGeom prst="rect">
            <a:avLst/>
          </a:prstGeom>
        </p:spPr>
      </p:pic>
    </p:spTree>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9388" y="1804541"/>
            <a:ext cx="4904170" cy="1283892"/>
          </a:xfrm>
        </p:spPr>
        <p:txBody>
          <a:bodyPr>
            <a:noAutofit/>
          </a:bodyPr>
          <a:lstStyle/>
          <a:p>
            <a:r>
              <a:rPr sz="3600" dirty="0">
                <a:solidFill>
                  <a:schemeClr val="accent3">
                    <a:lumMod val="75000"/>
                  </a:schemeClr>
                </a:solidFill>
              </a:rPr>
              <a:t>Problem Statement</a:t>
            </a:r>
          </a:p>
        </p:txBody>
      </p:sp>
      <p:sp>
        <p:nvSpPr>
          <p:cNvPr id="3" name="Content Placeholder 2"/>
          <p:cNvSpPr>
            <a:spLocks noGrp="1"/>
          </p:cNvSpPr>
          <p:nvPr>
            <p:ph sz="quarter" idx="1"/>
          </p:nvPr>
        </p:nvSpPr>
        <p:spPr>
          <a:xfrm>
            <a:off x="727788" y="3191069"/>
            <a:ext cx="7467600" cy="4953063"/>
          </a:xfrm>
        </p:spPr>
        <p:txBody>
          <a:bodyPr>
            <a:noAutofit/>
          </a:bodyPr>
          <a:lstStyle/>
          <a:p>
            <a:r>
              <a:rPr sz="2800" dirty="0"/>
              <a:t>The objective of this project is to develop a model capable of detecting emotions from textual data. By analyzing text inputs, the system predicts the underlying emotion such as joy, anger, fear, sadness, or surprise. This helps in improving human-computer interaction, sentiment monitoring, and social media analysis.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153"/>
            <a:ext cx="8976048" cy="24053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1995521"/>
            <a:ext cx="7467600" cy="1143000"/>
          </a:xfrm>
        </p:spPr>
        <p:txBody>
          <a:bodyPr>
            <a:normAutofit/>
          </a:bodyPr>
          <a:lstStyle/>
          <a:p>
            <a:r>
              <a:rPr sz="3200" dirty="0">
                <a:solidFill>
                  <a:schemeClr val="accent3"/>
                </a:solidFill>
              </a:rPr>
              <a:t>Workflow Overview</a:t>
            </a:r>
          </a:p>
        </p:txBody>
      </p:sp>
      <p:sp>
        <p:nvSpPr>
          <p:cNvPr id="3" name="Content Placeholder 2"/>
          <p:cNvSpPr>
            <a:spLocks noGrp="1"/>
          </p:cNvSpPr>
          <p:nvPr>
            <p:ph sz="quarter" idx="1"/>
          </p:nvPr>
        </p:nvSpPr>
        <p:spPr>
          <a:xfrm>
            <a:off x="550506" y="3279711"/>
            <a:ext cx="7467600" cy="4873752"/>
          </a:xfrm>
        </p:spPr>
        <p:txBody>
          <a:bodyPr>
            <a:noAutofit/>
          </a:bodyPr>
          <a:lstStyle/>
          <a:p>
            <a:r>
              <a:rPr dirty="0"/>
              <a:t>1. Data Collection</a:t>
            </a:r>
          </a:p>
          <a:p>
            <a:r>
              <a:rPr dirty="0"/>
              <a:t>2. Data Cleaning &amp; Preprocessing</a:t>
            </a:r>
          </a:p>
          <a:p>
            <a:r>
              <a:rPr dirty="0"/>
              <a:t>3. Feature Extraction (TF-IDF </a:t>
            </a:r>
            <a:r>
              <a:rPr dirty="0" err="1"/>
              <a:t>Vectorization</a:t>
            </a:r>
            <a:r>
              <a:rPr dirty="0"/>
              <a:t>)</a:t>
            </a:r>
          </a:p>
          <a:p>
            <a:r>
              <a:rPr dirty="0"/>
              <a:t>4. Model Training (Logistic Regression)</a:t>
            </a:r>
          </a:p>
          <a:p>
            <a:r>
              <a:rPr dirty="0"/>
              <a:t>5. Model Evaluation</a:t>
            </a:r>
          </a:p>
          <a:p>
            <a:r>
              <a:rPr dirty="0"/>
              <a:t>6. Real-time Emotion Prediction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53"/>
            <a:ext cx="9144000" cy="245030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26171" y="2509402"/>
            <a:ext cx="5852172" cy="436726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484"/>
            <a:ext cx="9144000" cy="2450306"/>
          </a:xfrm>
          <a:prstGeom prst="rect">
            <a:avLst/>
          </a:prstGeom>
        </p:spPr>
      </p:pic>
    </p:spTree>
    <p:extLst>
      <p:ext uri="{BB962C8B-B14F-4D97-AF65-F5344CB8AC3E}">
        <p14:creationId xmlns:p14="http://schemas.microsoft.com/office/powerpoint/2010/main" val="2472601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853" y="2222677"/>
            <a:ext cx="9078686" cy="883920"/>
          </a:xfrm>
        </p:spPr>
        <p:txBody>
          <a:bodyPr>
            <a:noAutofit/>
          </a:bodyPr>
          <a:lstStyle/>
          <a:p>
            <a:r>
              <a:rPr sz="3200" dirty="0">
                <a:solidFill>
                  <a:schemeClr val="accent3"/>
                </a:solidFill>
              </a:rPr>
              <a:t>Step 1: Data Cleaning &amp; Preprocessing</a:t>
            </a:r>
          </a:p>
        </p:txBody>
      </p:sp>
      <p:sp>
        <p:nvSpPr>
          <p:cNvPr id="3" name="Content Placeholder 2"/>
          <p:cNvSpPr>
            <a:spLocks noGrp="1"/>
          </p:cNvSpPr>
          <p:nvPr>
            <p:ph sz="quarter" idx="1"/>
          </p:nvPr>
        </p:nvSpPr>
        <p:spPr>
          <a:xfrm>
            <a:off x="411480" y="3181242"/>
            <a:ext cx="8229600" cy="4075176"/>
          </a:xfrm>
        </p:spPr>
        <p:txBody>
          <a:bodyPr>
            <a:normAutofit/>
          </a:bodyPr>
          <a:lstStyle/>
          <a:p>
            <a:r>
              <a:rPr sz="2800" dirty="0"/>
              <a:t>• Lowercasing all text</a:t>
            </a:r>
          </a:p>
          <a:p>
            <a:r>
              <a:rPr sz="2800" dirty="0"/>
              <a:t>• Removing URLs, punctuation, and special characters</a:t>
            </a:r>
          </a:p>
          <a:p>
            <a:r>
              <a:rPr sz="2800" dirty="0"/>
              <a:t>• Removing </a:t>
            </a:r>
            <a:r>
              <a:rPr sz="2800" dirty="0" err="1"/>
              <a:t>stopwords</a:t>
            </a:r>
            <a:r>
              <a:rPr sz="2800" dirty="0"/>
              <a:t> except negations like 'not'</a:t>
            </a:r>
          </a:p>
          <a:p>
            <a:r>
              <a:rPr sz="2800" dirty="0"/>
              <a:t>• Lemmatization using </a:t>
            </a:r>
            <a:r>
              <a:rPr sz="2800" dirty="0" err="1"/>
              <a:t>WordNet</a:t>
            </a:r>
            <a:r>
              <a:rPr sz="2800" dirty="0"/>
              <a:t> </a:t>
            </a:r>
            <a:r>
              <a:rPr sz="2800" dirty="0" err="1"/>
              <a:t>Lemmatizer</a:t>
            </a:r>
            <a:endParaRPr sz="2800" dirty="0"/>
          </a:p>
          <a:p>
            <a:r>
              <a:rPr sz="2800" dirty="0"/>
              <a:t>• Ensuring clean input for model learning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45030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490" y="2511223"/>
            <a:ext cx="9218645" cy="1066800"/>
          </a:xfrm>
        </p:spPr>
        <p:txBody>
          <a:bodyPr>
            <a:noAutofit/>
          </a:bodyPr>
          <a:lstStyle/>
          <a:p>
            <a:r>
              <a:rPr sz="3200" dirty="0">
                <a:solidFill>
                  <a:schemeClr val="accent3"/>
                </a:solidFill>
              </a:rPr>
              <a:t>Step 2: Feature Extraction (TF-IDF)</a:t>
            </a:r>
          </a:p>
        </p:txBody>
      </p:sp>
      <p:sp>
        <p:nvSpPr>
          <p:cNvPr id="3" name="Content Placeholder 2"/>
          <p:cNvSpPr>
            <a:spLocks noGrp="1"/>
          </p:cNvSpPr>
          <p:nvPr>
            <p:ph sz="quarter" idx="1"/>
          </p:nvPr>
        </p:nvSpPr>
        <p:spPr>
          <a:xfrm>
            <a:off x="457200" y="3768448"/>
            <a:ext cx="8229600" cy="4075176"/>
          </a:xfrm>
        </p:spPr>
        <p:txBody>
          <a:bodyPr>
            <a:normAutofit/>
          </a:bodyPr>
          <a:lstStyle/>
          <a:p>
            <a:r>
              <a:rPr sz="2800" dirty="0"/>
              <a:t>• Converts text into numerical features</a:t>
            </a:r>
          </a:p>
          <a:p>
            <a:r>
              <a:rPr sz="2800" dirty="0"/>
              <a:t>• Uses </a:t>
            </a:r>
            <a:r>
              <a:rPr sz="2800" dirty="0" err="1"/>
              <a:t>uni</a:t>
            </a:r>
            <a:r>
              <a:rPr sz="2800" dirty="0"/>
              <a:t>-grams and bi-grams for better context</a:t>
            </a:r>
          </a:p>
          <a:p>
            <a:r>
              <a:rPr sz="2800" dirty="0"/>
              <a:t>• Captures important word patterns and frequency</a:t>
            </a:r>
          </a:p>
          <a:p>
            <a:r>
              <a:rPr sz="2800" dirty="0"/>
              <a:t>• Reduces noise and dimensionality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1" y="39145"/>
            <a:ext cx="9144000" cy="245030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1126" y="2608217"/>
            <a:ext cx="5608320" cy="899160"/>
          </a:xfrm>
        </p:spPr>
        <p:txBody>
          <a:bodyPr>
            <a:noAutofit/>
          </a:bodyPr>
          <a:lstStyle/>
          <a:p>
            <a:r>
              <a:rPr sz="3200" dirty="0">
                <a:solidFill>
                  <a:schemeClr val="accent3"/>
                </a:solidFill>
              </a:rPr>
              <a:t>Step 3: Model Training (Logistic Regression</a:t>
            </a:r>
            <a:r>
              <a:rPr sz="3200" dirty="0"/>
              <a:t>)</a:t>
            </a:r>
          </a:p>
        </p:txBody>
      </p:sp>
      <p:sp>
        <p:nvSpPr>
          <p:cNvPr id="3" name="Content Placeholder 2"/>
          <p:cNvSpPr>
            <a:spLocks noGrp="1"/>
          </p:cNvSpPr>
          <p:nvPr>
            <p:ph sz="quarter" idx="1"/>
          </p:nvPr>
        </p:nvSpPr>
        <p:spPr>
          <a:xfrm>
            <a:off x="550506" y="3669325"/>
            <a:ext cx="8229600" cy="4075176"/>
          </a:xfrm>
        </p:spPr>
        <p:txBody>
          <a:bodyPr>
            <a:noAutofit/>
          </a:bodyPr>
          <a:lstStyle/>
          <a:p>
            <a:r>
              <a:rPr sz="2800" dirty="0"/>
              <a:t>• Used Logistic Regression with SAGA solver</a:t>
            </a:r>
          </a:p>
          <a:p>
            <a:r>
              <a:rPr sz="2800" dirty="0"/>
              <a:t>• Handles multiclass classification efficiently</a:t>
            </a:r>
          </a:p>
          <a:p>
            <a:r>
              <a:rPr sz="2800" dirty="0"/>
              <a:t>• Balanced class weights to manage imbalanced data</a:t>
            </a:r>
          </a:p>
          <a:p>
            <a:r>
              <a:rPr sz="2800" dirty="0"/>
              <a:t>• Achieved improved performance and accuracy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1" y="1823"/>
            <a:ext cx="9144000" cy="245030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608" y="2503840"/>
            <a:ext cx="7149737" cy="975360"/>
          </a:xfrm>
        </p:spPr>
        <p:txBody>
          <a:bodyPr>
            <a:noAutofit/>
          </a:bodyPr>
          <a:lstStyle/>
          <a:p>
            <a:r>
              <a:rPr sz="3600" dirty="0">
                <a:solidFill>
                  <a:schemeClr val="accent3"/>
                </a:solidFill>
              </a:rPr>
              <a:t>Step 4: Model Evaluation</a:t>
            </a:r>
          </a:p>
        </p:txBody>
      </p:sp>
      <p:sp>
        <p:nvSpPr>
          <p:cNvPr id="3" name="Content Placeholder 2"/>
          <p:cNvSpPr>
            <a:spLocks noGrp="1"/>
          </p:cNvSpPr>
          <p:nvPr>
            <p:ph sz="quarter" idx="1"/>
          </p:nvPr>
        </p:nvSpPr>
        <p:spPr>
          <a:xfrm>
            <a:off x="457200" y="3492573"/>
            <a:ext cx="8229600" cy="4075176"/>
          </a:xfrm>
        </p:spPr>
        <p:txBody>
          <a:bodyPr>
            <a:normAutofit/>
          </a:bodyPr>
          <a:lstStyle/>
          <a:p>
            <a:r>
              <a:rPr sz="2800" dirty="0"/>
              <a:t>• Accuracy Score &amp; Classification Report used for evaluation</a:t>
            </a:r>
          </a:p>
          <a:p>
            <a:r>
              <a:rPr sz="2800" dirty="0"/>
              <a:t>• Confusion Matrix for detailed insight</a:t>
            </a:r>
          </a:p>
          <a:p>
            <a:r>
              <a:rPr sz="2800" dirty="0"/>
              <a:t>• Visualized predictions using </a:t>
            </a:r>
            <a:r>
              <a:rPr sz="2800" dirty="0" err="1"/>
              <a:t>heatmap</a:t>
            </a:r>
            <a:endParaRPr sz="2800" dirty="0"/>
          </a:p>
          <a:p>
            <a:r>
              <a:rPr sz="2800" dirty="0"/>
              <a:t>• Model tested on unseen data for validation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508"/>
            <a:ext cx="9144000" cy="245030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91292" y="2295030"/>
            <a:ext cx="6986030" cy="456297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153"/>
            <a:ext cx="9144000" cy="2450306"/>
          </a:xfrm>
          <a:prstGeom prst="rect">
            <a:avLst/>
          </a:prstGeom>
        </p:spPr>
      </p:pic>
    </p:spTree>
    <p:extLst>
      <p:ext uri="{BB962C8B-B14F-4D97-AF65-F5344CB8AC3E}">
        <p14:creationId xmlns:p14="http://schemas.microsoft.com/office/powerpoint/2010/main" val="789753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812" y="2138266"/>
            <a:ext cx="8276252" cy="960120"/>
          </a:xfrm>
        </p:spPr>
        <p:txBody>
          <a:bodyPr>
            <a:noAutofit/>
          </a:bodyPr>
          <a:lstStyle/>
          <a:p>
            <a:r>
              <a:rPr sz="3200" dirty="0">
                <a:solidFill>
                  <a:schemeClr val="accent3"/>
                </a:solidFill>
              </a:rPr>
              <a:t>Step 5: Real-time Emotion Detection</a:t>
            </a:r>
          </a:p>
        </p:txBody>
      </p:sp>
      <p:sp>
        <p:nvSpPr>
          <p:cNvPr id="3" name="Content Placeholder 2"/>
          <p:cNvSpPr>
            <a:spLocks noGrp="1"/>
          </p:cNvSpPr>
          <p:nvPr>
            <p:ph sz="quarter" idx="1"/>
          </p:nvPr>
        </p:nvSpPr>
        <p:spPr>
          <a:xfrm>
            <a:off x="643812" y="3093098"/>
            <a:ext cx="7467600" cy="4873752"/>
          </a:xfrm>
        </p:spPr>
        <p:txBody>
          <a:bodyPr>
            <a:normAutofit/>
          </a:bodyPr>
          <a:lstStyle/>
          <a:p>
            <a:r>
              <a:rPr sz="2800" dirty="0"/>
              <a:t>• Accepts user input dynamically</a:t>
            </a:r>
          </a:p>
          <a:p>
            <a:r>
              <a:rPr sz="2800" dirty="0"/>
              <a:t>• Cleans and </a:t>
            </a:r>
            <a:r>
              <a:rPr sz="2800" dirty="0" err="1"/>
              <a:t>vectorizes</a:t>
            </a:r>
            <a:r>
              <a:rPr sz="2800" dirty="0"/>
              <a:t> text instantly</a:t>
            </a:r>
          </a:p>
          <a:p>
            <a:r>
              <a:rPr sz="2800" dirty="0"/>
              <a:t>• Predicts top 3 emotions with confidence levels</a:t>
            </a:r>
          </a:p>
          <a:p>
            <a:r>
              <a:rPr sz="2800" dirty="0"/>
              <a:t>• Displays most likely emotion and other possibilities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1" y="0"/>
            <a:ext cx="9144000" cy="245030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334278" y="2227329"/>
            <a:ext cx="6217772" cy="466332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4789"/>
            <a:ext cx="9144000" cy="2450306"/>
          </a:xfrm>
          <a:prstGeom prst="rect">
            <a:avLst/>
          </a:prstGeom>
        </p:spPr>
      </p:pic>
    </p:spTree>
    <p:extLst>
      <p:ext uri="{BB962C8B-B14F-4D97-AF65-F5344CB8AC3E}">
        <p14:creationId xmlns:p14="http://schemas.microsoft.com/office/powerpoint/2010/main" val="25798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37118" y="2259666"/>
            <a:ext cx="7262326" cy="458989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20" y="11649"/>
            <a:ext cx="9045879" cy="2424012"/>
          </a:xfrm>
          <a:prstGeom prst="rect">
            <a:avLst/>
          </a:prstGeom>
        </p:spPr>
      </p:pic>
    </p:spTree>
    <p:extLst>
      <p:ext uri="{BB962C8B-B14F-4D97-AF65-F5344CB8AC3E}">
        <p14:creationId xmlns:p14="http://schemas.microsoft.com/office/powerpoint/2010/main" val="3076498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7940" y="2530960"/>
            <a:ext cx="4114800" cy="701040"/>
          </a:xfrm>
        </p:spPr>
        <p:txBody>
          <a:bodyPr>
            <a:noAutofit/>
          </a:bodyPr>
          <a:lstStyle/>
          <a:p>
            <a:r>
              <a:rPr sz="4400" dirty="0">
                <a:solidFill>
                  <a:schemeClr val="accent3"/>
                </a:solidFill>
              </a:rPr>
              <a:t>Conclusion</a:t>
            </a:r>
          </a:p>
        </p:txBody>
      </p:sp>
      <p:sp>
        <p:nvSpPr>
          <p:cNvPr id="3" name="Content Placeholder 2"/>
          <p:cNvSpPr>
            <a:spLocks noGrp="1"/>
          </p:cNvSpPr>
          <p:nvPr>
            <p:ph sz="quarter" idx="1"/>
          </p:nvPr>
        </p:nvSpPr>
        <p:spPr>
          <a:xfrm>
            <a:off x="594360" y="3427943"/>
            <a:ext cx="8229600" cy="4075176"/>
          </a:xfrm>
        </p:spPr>
        <p:txBody>
          <a:bodyPr>
            <a:normAutofit/>
          </a:bodyPr>
          <a:lstStyle/>
          <a:p>
            <a:r>
              <a:rPr dirty="0"/>
              <a:t>The Emotion Detection model effectively identifies human emotions from textual data. Using TF-IDF and Logistic Regression, the system delivers accurate predictions with interpretability. It can be extended to </a:t>
            </a:r>
            <a:r>
              <a:rPr dirty="0" err="1"/>
              <a:t>chatbots</a:t>
            </a:r>
            <a:r>
              <a:rPr dirty="0"/>
              <a:t>, social media sentiment analysis, and mental health monitoring systems.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313"/>
            <a:ext cx="9144000" cy="245030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1273" y="2276669"/>
            <a:ext cx="5918718" cy="704460"/>
          </a:xfrm>
        </p:spPr>
        <p:txBody>
          <a:bodyPr>
            <a:noAutofit/>
          </a:bodyPr>
          <a:lstStyle/>
          <a:p>
            <a:r>
              <a:rPr sz="4000" dirty="0">
                <a:solidFill>
                  <a:schemeClr val="accent3"/>
                </a:solidFill>
              </a:rPr>
              <a:t>References</a:t>
            </a:r>
          </a:p>
        </p:txBody>
      </p:sp>
      <p:sp>
        <p:nvSpPr>
          <p:cNvPr id="3" name="Content Placeholder 2"/>
          <p:cNvSpPr>
            <a:spLocks noGrp="1"/>
          </p:cNvSpPr>
          <p:nvPr>
            <p:ph sz="quarter" idx="1"/>
          </p:nvPr>
        </p:nvSpPr>
        <p:spPr>
          <a:xfrm>
            <a:off x="391886" y="2981129"/>
            <a:ext cx="7467600" cy="4873752"/>
          </a:xfrm>
        </p:spPr>
        <p:txBody>
          <a:bodyPr>
            <a:normAutofit/>
          </a:bodyPr>
          <a:lstStyle/>
          <a:p>
            <a:r>
              <a:rPr sz="1800" dirty="0"/>
              <a:t>1. </a:t>
            </a:r>
            <a:r>
              <a:rPr sz="1800" dirty="0" err="1"/>
              <a:t>Scikit</a:t>
            </a:r>
            <a:r>
              <a:rPr sz="1800" dirty="0"/>
              <a:t>-learn Documentation - https://scikit-learn.org</a:t>
            </a:r>
          </a:p>
          <a:p>
            <a:r>
              <a:rPr sz="1800" dirty="0"/>
              <a:t>2. NLTK Documentation - https://www.nltk.org</a:t>
            </a:r>
          </a:p>
          <a:p>
            <a:r>
              <a:rPr sz="1800" dirty="0"/>
              <a:t>3. </a:t>
            </a:r>
            <a:r>
              <a:rPr sz="1800" dirty="0" err="1"/>
              <a:t>Kaggle</a:t>
            </a:r>
            <a:r>
              <a:rPr sz="1800" dirty="0"/>
              <a:t> Emotion Datasets</a:t>
            </a:r>
          </a:p>
          <a:p>
            <a:r>
              <a:rPr sz="1800" dirty="0"/>
              <a:t>4. Text Mining with Python - </a:t>
            </a:r>
            <a:r>
              <a:rPr sz="1800" dirty="0" err="1"/>
              <a:t>Packt</a:t>
            </a:r>
            <a:r>
              <a:rPr sz="1800" dirty="0"/>
              <a:t> Publishing</a:t>
            </a:r>
          </a:p>
          <a:p>
            <a:r>
              <a:rPr sz="1800" dirty="0"/>
              <a:t>5. Python Official Documentation - https://python.org</a:t>
            </a:r>
          </a:p>
          <a:p>
            <a:r>
              <a:rPr sz="1800" dirty="0"/>
              <a:t>6. Towards Data Science Articles on NLP</a:t>
            </a:r>
          </a:p>
          <a:p>
            <a:r>
              <a:rPr sz="1800" dirty="0"/>
              <a:t>7. Analytics </a:t>
            </a:r>
            <a:r>
              <a:rPr sz="1800" dirty="0" err="1"/>
              <a:t>Vidhya</a:t>
            </a:r>
            <a:r>
              <a:rPr sz="1800" dirty="0"/>
              <a:t> Blogs</a:t>
            </a:r>
          </a:p>
          <a:p>
            <a:r>
              <a:rPr sz="1800" dirty="0"/>
              <a:t>8. Research Paper: Emotion Recognition from Text using ML Algorithms</a:t>
            </a:r>
          </a:p>
          <a:p>
            <a:r>
              <a:rPr sz="1800" dirty="0"/>
              <a:t>9. Medium Articles on Logistic Regression</a:t>
            </a:r>
          </a:p>
          <a:p>
            <a:r>
              <a:rPr sz="1800" dirty="0"/>
              <a:t>10. Journal of Machine Learning Applications, 2024</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3"/>
            <a:ext cx="9144000" cy="245030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8" y="4093431"/>
            <a:ext cx="6559420" cy="2625695"/>
          </a:xfrm>
        </p:spPr>
        <p:txBody>
          <a:bodyPr>
            <a:normAutofit/>
          </a:bodyPr>
          <a:lstStyle/>
          <a:p>
            <a:r>
              <a:rPr lang="en-US" sz="8000" b="1" dirty="0" smtClean="0">
                <a:solidFill>
                  <a:schemeClr val="tx1"/>
                </a:solidFill>
                <a:latin typeface="Brush Script MT" pitchFamily="66" charset="0"/>
              </a:rPr>
              <a:t>Thank</a:t>
            </a:r>
            <a:r>
              <a:rPr lang="en-US" sz="4800" b="1" dirty="0" smtClean="0">
                <a:solidFill>
                  <a:schemeClr val="tx1"/>
                </a:solidFill>
                <a:latin typeface="Brush Script MT" pitchFamily="66" charset="0"/>
              </a:rPr>
              <a:t> </a:t>
            </a:r>
            <a:r>
              <a:rPr lang="en-US" sz="8000" b="1" dirty="0" smtClean="0">
                <a:solidFill>
                  <a:schemeClr val="tx1"/>
                </a:solidFill>
                <a:latin typeface="Brush Script MT" pitchFamily="66" charset="0"/>
              </a:rPr>
              <a:t>You</a:t>
            </a:r>
            <a:endParaRPr sz="8000" b="1" dirty="0">
              <a:solidFill>
                <a:schemeClr val="tx1"/>
              </a:solidFill>
              <a:latin typeface="Brush Script MT" pitchFamily="66" charset="0"/>
            </a:endParaRPr>
          </a:p>
        </p:txBody>
      </p:sp>
      <p:sp>
        <p:nvSpPr>
          <p:cNvPr id="3" name="Content Placeholder 2"/>
          <p:cNvSpPr>
            <a:spLocks noGrp="1"/>
          </p:cNvSpPr>
          <p:nvPr>
            <p:ph sz="quarter" idx="1"/>
          </p:nvPr>
        </p:nvSpPr>
        <p:spPr>
          <a:xfrm>
            <a:off x="102637" y="3517639"/>
            <a:ext cx="9041363" cy="2517695"/>
          </a:xfrm>
        </p:spPr>
        <p:txBody>
          <a:bodyPr>
            <a:normAutofit/>
          </a:bodyPr>
          <a:lstStyle/>
          <a:p>
            <a:pPr marL="0" indent="0">
              <a:buNone/>
            </a:pPr>
            <a:r>
              <a:rPr lang="en-IN" sz="3200" dirty="0" smtClean="0">
                <a:latin typeface="Algerian" pitchFamily="82" charset="0"/>
              </a:rPr>
              <a:t> print</a:t>
            </a:r>
            <a:r>
              <a:rPr lang="en-IN" sz="3200" dirty="0" smtClean="0">
                <a:latin typeface="Algerian" pitchFamily="82" charset="0"/>
              </a:rPr>
              <a:t>("Emotion </a:t>
            </a:r>
            <a:r>
              <a:rPr lang="en-IN" sz="3200" dirty="0" smtClean="0">
                <a:latin typeface="Algerian" pitchFamily="82" charset="0"/>
              </a:rPr>
              <a:t>Recognition Complete </a:t>
            </a:r>
            <a:r>
              <a:rPr lang="en-IN" sz="3200" dirty="0" smtClean="0">
                <a:latin typeface="Algerian" pitchFamily="82" charset="0"/>
              </a:rPr>
              <a:t>✅") </a:t>
            </a:r>
            <a:endParaRPr sz="3200" dirty="0">
              <a:latin typeface="Algerian" pitchFamily="82"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0"/>
            <a:ext cx="9144000" cy="2450306"/>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196</TotalTime>
  <Words>429</Words>
  <Application>Microsoft Office PowerPoint</Application>
  <PresentationFormat>On-screen Show (4:3)</PresentationFormat>
  <Paragraphs>55</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Oriel</vt:lpstr>
      <vt:lpstr>Emotion Detection Using Machine Learning</vt:lpstr>
      <vt:lpstr>Problem Statement</vt:lpstr>
      <vt:lpstr>Workflow Overview</vt:lpstr>
      <vt:lpstr>PowerPoint Presentation</vt:lpstr>
      <vt:lpstr>Step 1: Data Cleaning &amp; Preprocessing</vt:lpstr>
      <vt:lpstr>Step 2: Feature Extraction (TF-IDF)</vt:lpstr>
      <vt:lpstr>Step 3: Model Training (Logistic Regression)</vt:lpstr>
      <vt:lpstr>Step 4: Model Evaluation</vt:lpstr>
      <vt:lpstr>PowerPoint Presentation</vt:lpstr>
      <vt:lpstr>Step 5: Real-time Emotion Detection</vt:lpstr>
      <vt:lpstr>PowerPoint Presentation</vt:lpstr>
      <vt:lpstr>PowerPoint Presentation</vt:lpstr>
      <vt:lpstr>Conclusion</vt:lpstr>
      <vt:lpstr>References</vt:lpstr>
      <vt:lpstr>Thank You</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Using Machine Learning</dc:title>
  <dc:creator>aiswarya aish</dc:creator>
  <dc:description>generated using python-pptx</dc:description>
  <cp:lastModifiedBy>aiswarya aish</cp:lastModifiedBy>
  <cp:revision>19</cp:revision>
  <dcterms:created xsi:type="dcterms:W3CDTF">2013-01-27T09:14:16Z</dcterms:created>
  <dcterms:modified xsi:type="dcterms:W3CDTF">2025-11-09T11:07:38Z</dcterms:modified>
</cp:coreProperties>
</file>